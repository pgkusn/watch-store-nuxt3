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📋 專案概述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0066CC"/>
                </a:solidFill>
              </a:defRPr>
            </a:pPr>
            <a:r>
              <a:t>核心功能</a:t>
            </a:r>
          </a:p>
          <a:p>
            <a:pPr>
              <a:spcAft>
                <a:spcPts val="600"/>
              </a:spcAft>
              <a:defRPr sz="1400"/>
            </a:pPr>
            <a:r>
              <a:t> 商品瀏覽與搜尋（依品牌分類）</a:t>
            </a:r>
          </a:p>
          <a:p>
            <a:pPr>
              <a:spcAft>
                <a:spcPts val="600"/>
              </a:spcAft>
              <a:defRPr sz="1400"/>
            </a:pPr>
            <a:r>
              <a:t> 購物車管理</a:t>
            </a:r>
          </a:p>
          <a:p>
            <a:pPr>
              <a:spcAft>
                <a:spcPts val="600"/>
              </a:spcAft>
              <a:defRPr sz="1400"/>
            </a:pPr>
            <a:r>
              <a:t> 商品收藏清單</a:t>
            </a:r>
          </a:p>
          <a:p>
            <a:pPr>
              <a:spcAft>
                <a:spcPts val="600"/>
              </a:spcAft>
              <a:defRPr sz="1400"/>
            </a:pPr>
            <a:r>
              <a:t> 會員系統（註冊、登入、個人資料管理）</a:t>
            </a:r>
          </a:p>
          <a:p>
            <a:pPr>
              <a:spcAft>
                <a:spcPts val="600"/>
              </a:spcAft>
              <a:defRPr sz="1400"/>
            </a:pPr>
            <a:r>
              <a:t> 訂單建立與歷史查詢</a:t>
            </a:r>
          </a:p>
          <a:p>
            <a:pPr>
              <a:spcAft>
                <a:spcPts val="600"/>
              </a:spcAft>
              <a:defRPr sz="1400"/>
            </a:pPr>
            <a:r>
              <a:t> 台灣地址選擇器（縣市區域）</a:t>
            </a:r>
          </a:p>
          <a:p>
            <a:pPr>
              <a:spcAft>
                <a:spcPts val="600"/>
              </a:spcAft>
              <a:defRPr sz="1400"/>
            </a:pPr>
            <a:r>
              <a:t> 電子報訂閱功能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🏗️ 技術棧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0066CC"/>
                </a:solidFill>
              </a:defRPr>
            </a:pPr>
            <a:r>
              <a:t>前端技術</a:t>
            </a:r>
          </a:p>
          <a:p>
            <a:pPr>
              <a:spcAft>
                <a:spcPts val="400"/>
              </a:spcAft>
              <a:defRPr sz="1200"/>
            </a:pPr>
            <a:r>
              <a:t>技術 | 版本 | 用途</a:t>
            </a:r>
          </a:p>
          <a:p>
            <a:pPr>
              <a:spcAft>
                <a:spcPts val="400"/>
              </a:spcAft>
              <a:defRPr sz="1200"/>
            </a:pPr>
            <a:r>
              <a:t>**Nuxt 3** | ^3.6.5 | Vue 全端框架</a:t>
            </a:r>
          </a:p>
          <a:p>
            <a:pPr>
              <a:spcAft>
                <a:spcPts val="400"/>
              </a:spcAft>
              <a:defRPr sz="1200"/>
            </a:pPr>
            <a:r>
              <a:t>**Vue 3** | latest | 前端框架</a:t>
            </a:r>
          </a:p>
          <a:p>
            <a:pPr>
              <a:spcAft>
                <a:spcPts val="400"/>
              </a:spcAft>
              <a:defRPr sz="1200"/>
            </a:pPr>
            <a:r>
              <a:t>**TypeScript** | - | 型別安全</a:t>
            </a:r>
          </a:p>
          <a:p>
            <a:pPr>
              <a:spcAft>
                <a:spcPts val="400"/>
              </a:spcAft>
              <a:defRPr sz="1200"/>
            </a:pPr>
            <a:r>
              <a:t>**Tailwind CSS** | ^6.3.1 | UI 樣式框架</a:t>
            </a:r>
          </a:p>
          <a:p>
            <a:pPr>
              <a:spcAft>
                <a:spcPts val="400"/>
              </a:spcAft>
              <a:defRPr sz="1200"/>
            </a:pPr>
            <a:r>
              <a:t>**Pinia** | ^2.0.30 | 狀態管理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0066CC"/>
                </a:solidFill>
              </a:defRPr>
            </a:pPr>
            <a:r>
              <a:t>後端服務</a:t>
            </a:r>
          </a:p>
          <a:p>
            <a:pPr>
              <a:spcAft>
                <a:spcPts val="400"/>
              </a:spcAft>
              <a:defRPr sz="1200"/>
            </a:pPr>
            <a:r>
              <a:t>服務 | 用途</a:t>
            </a:r>
          </a:p>
          <a:p>
            <a:pPr>
              <a:spcAft>
                <a:spcPts val="400"/>
              </a:spcAft>
              <a:defRPr sz="1200"/>
            </a:pPr>
            <a:r>
              <a:t>**Firebase Realtime Database** | 商品、會員、訂單資料存儲</a:t>
            </a:r>
          </a:p>
          <a:p>
            <a:pPr>
              <a:spcAft>
                <a:spcPts val="400"/>
              </a:spcAft>
              <a:defRPr sz="1200"/>
            </a:pPr>
            <a:r>
              <a:t>**Firebase Authentication** | 使用者認證（Email/Password）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0066CC"/>
                </a:solidFill>
              </a:defRPr>
            </a:pPr>
            <a:r>
              <a:t>第三方整合</a:t>
            </a:r>
          </a:p>
          <a:p>
            <a:pPr>
              <a:spcAft>
                <a:spcPts val="400"/>
              </a:spcAft>
              <a:defRPr sz="1200"/>
            </a:pPr>
            <a:r>
              <a:t>套件 | 用途</a:t>
            </a:r>
          </a:p>
          <a:p>
            <a:pPr>
              <a:spcAft>
                <a:spcPts val="400"/>
              </a:spcAft>
              <a:defRPr sz="1200"/>
            </a:pPr>
            <a:r>
              <a:t>**AOS** | 滾動動畫效果</a:t>
            </a:r>
          </a:p>
          <a:p>
            <a:pPr>
              <a:spcAft>
                <a:spcPts val="400"/>
              </a:spcAft>
              <a:defRPr sz="1200"/>
            </a:pPr>
            <a:r>
              <a:t>**SweetAlert2** | 提示與對話框</a:t>
            </a:r>
          </a:p>
          <a:p>
            <a:pPr>
              <a:spcAft>
                <a:spcPts val="400"/>
              </a:spcAft>
              <a:defRPr sz="1200"/>
            </a:pPr>
            <a:r>
              <a:t>**GTM** | Google Tag Manager 追蹤</a:t>
            </a:r>
          </a:p>
          <a:p>
            <a:pPr>
              <a:spcAft>
                <a:spcPts val="400"/>
              </a:spcAft>
              <a:defRPr sz="1200"/>
            </a:pPr>
            <a:r>
              <a:t>**dayjs** | 日期處理</a:t>
            </a:r>
          </a:p>
          <a:p>
            <a:pPr>
              <a:spcAft>
                <a:spcPts val="400"/>
              </a:spcAft>
              <a:defRPr sz="1200"/>
            </a:pPr>
            <a:r>
              <a:t>**VueUse** | Vue 組合式工具集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📁 專案結構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watch-store-nuxt3/</a:t>
            </a:r>
            <a:br/>
            <a:r>
              <a:t>│</a:t>
            </a:r>
            <a:br/>
            <a:r>
              <a:t>├── 📄 pages/                    # 頁面路由（Nuxt 自動路由）</a:t>
            </a:r>
            <a:br/>
            <a:r>
              <a:t>│   ├── index.vue                # 首頁（Hero Banner + 推薦商品）</a:t>
            </a:r>
            <a:br/>
            <a:r>
              <a:t>│   ├── login.vue                # 登入頁</a:t>
            </a:r>
            <a:br/>
            <a:r>
              <a:t>│   ├── signup.vue               # 註冊頁</a:t>
            </a:r>
            <a:br/>
            <a:r>
              <a:t>│   ├── cart.vue                 # 購物車</a:t>
            </a:r>
            <a:br/>
            <a:r>
              <a:t>│   ├── wishlist.vue             # 收藏清單</a:t>
            </a:r>
            <a:br/>
            <a:r>
              <a:t>│   ├── member.vue               # 會員中心（受保護）</a:t>
            </a:r>
            <a:br/>
            <a:r>
              <a:t>│   ├── member/</a:t>
            </a:r>
            <a:br/>
            <a:r>
              <a:t>│   │   ├── index.vue            # 個人資料管理</a:t>
            </a:r>
            <a:br/>
            <a:r>
              <a:t>│   │   └── order.vue            # 訂單歷史</a:t>
            </a:r>
            <a:br/>
            <a:r>
              <a:t>│   ├── products/</a:t>
            </a:r>
            <a:br/>
            <a:r>
              <a:t>│   │   └── [brand].vue          # 依品牌瀏覽商品</a:t>
            </a:r>
            <a:br/>
            <a:r>
              <a:t>│   └── pr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🎯 核心功能架構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0066CC"/>
                </a:solidFill>
              </a:defRPr>
            </a:pPr>
            <a:r>
              <a:t>1. 路由系統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333333"/>
                </a:solidFill>
              </a:defRPr>
            </a:pPr>
            <a:r>
              <a:t>公開路由</a:t>
            </a:r>
          </a:p>
          <a:p>
            <a:pPr>
              <a:spcAft>
                <a:spcPts val="600"/>
              </a:spcAft>
              <a:defRPr sz="1400"/>
            </a:pPr>
            <a:r>
              <a:t>/ - 首頁</a:t>
            </a:r>
          </a:p>
          <a:p>
            <a:pPr>
              <a:spcAft>
                <a:spcPts val="600"/>
              </a:spcAft>
              <a:defRPr sz="1400"/>
            </a:pPr>
            <a:r>
              <a:t>/login - 登入</a:t>
            </a:r>
          </a:p>
          <a:p>
            <a:pPr>
              <a:spcAft>
                <a:spcPts val="600"/>
              </a:spcAft>
              <a:defRPr sz="1400"/>
            </a:pPr>
            <a:r>
              <a:t>/signup - 註冊</a:t>
            </a:r>
          </a:p>
          <a:p>
            <a:pPr>
              <a:spcAft>
                <a:spcPts val="600"/>
              </a:spcAft>
              <a:defRPr sz="1400"/>
            </a:pPr>
            <a:r>
              <a:t>/products/brand - 品牌商品列表</a:t>
            </a:r>
          </a:p>
          <a:p>
            <a:pPr>
              <a:spcAft>
                <a:spcPts val="600"/>
              </a:spcAft>
              <a:defRPr sz="1400"/>
            </a:pPr>
            <a:r>
              <a:t>/product/brand/id - 商品詳細頁</a:t>
            </a:r>
          </a:p>
          <a:p>
            <a:pPr>
              <a:spcAft>
                <a:spcPts val="600"/>
              </a:spcAft>
              <a:defRPr sz="1400"/>
            </a:pPr>
            <a:r>
              <a:t>/cart - 購物車</a:t>
            </a:r>
          </a:p>
          <a:p>
            <a:pPr>
              <a:spcAft>
                <a:spcPts val="600"/>
              </a:spcAft>
              <a:defRPr sz="1400"/>
            </a:pPr>
            <a:r>
              <a:t>/wishlist - 收藏清單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333333"/>
                </a:solidFill>
              </a:defRPr>
            </a:pPr>
            <a:r>
              <a:t>受保護路由（需要登入）</a:t>
            </a:r>
          </a:p>
          <a:p>
            <a:pPr>
              <a:spcAft>
                <a:spcPts val="600"/>
              </a:spcAft>
              <a:defRPr sz="1400"/>
            </a:pPr>
            <a:r>
              <a:t>/member - 會員中心</a:t>
            </a:r>
          </a:p>
          <a:p>
            <a:pPr>
              <a:spcAft>
                <a:spcPts val="600"/>
              </a:spcAft>
              <a:defRPr sz="1400"/>
            </a:pPr>
            <a:r>
              <a:t>/member/index - 個人資料管理</a:t>
            </a:r>
          </a:p>
          <a:p>
            <a:pPr>
              <a:spcAft>
                <a:spcPts val="600"/>
              </a:spcAft>
              <a:defRPr sz="1400"/>
            </a:pPr>
            <a:r>
              <a:t>/member/order - 訂單歷史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0066CC"/>
                </a:solidFill>
              </a:defRPr>
            </a:pPr>
            <a:r>
              <a:t>2. 狀態管理（Pinia Stores）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333333"/>
                </a:solidFill>
              </a:defRPr>
            </a:pPr>
            <a:r>
              <a:t>📌 useMainStore（全域狀態）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- alertMsg: 臨時提示訊息（1.3秒自動清除）</a:t>
            </a:r>
            <a:br/>
            <a:r>
              <a:t>- cities: 台灣縣市區域資料</a:t>
            </a:r>
            <a:br/>
            <a:r>
              <a:t>- getCities(): 從 Server API 取得縣市資料</a:t>
            </a:r>
            <a:br/>
            <a:r>
              <a:t>- setAlertMsgHandler(): 顯示臨時提示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333333"/>
                </a:solidFill>
              </a:defRPr>
            </a:pPr>
            <a:r>
              <a:t>🛍️ useProductStore（商品狀態）**【持久化】**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- products: 所有商品資料</a:t>
            </a:r>
            <a:br/>
            <a:r>
              <a:t>- states: 使用者的購物車與收藏（持久化至瀏覽器）</a:t>
            </a:r>
            <a:br/>
            <a:r>
              <a:t>- getProducts(): 取得所有商品</a:t>
            </a:r>
            <a:br/>
            <a:r>
              <a:t>- getProduct(id): 取得單一商品詳情</a:t>
            </a:r>
            <a:br/>
            <a:r>
              <a:t>- updateState(): 新增/移除購物車或收藏項目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333333"/>
                </a:solidFill>
              </a:defRPr>
            </a:pPr>
            <a:r>
              <a:t>👤 useMemberStore（會員狀態）**【持久化】**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- loginInfo: 認證 Token 與使用者 ID（持久化至瀏覽器）</a:t>
            </a:r>
            <a:br/>
            <a:r>
              <a:t>- profile: 使用者個人資料</a:t>
            </a:r>
            <a:br/>
            <a:r>
              <a:t>- orders: 訂單歷史</a:t>
            </a:r>
            <a:br/>
            <a:r>
              <a:t>- userLogin(): Firebase Email/密碼登入</a:t>
            </a:r>
            <a:br/>
            <a:r>
              <a:t>- userSignUp(): Firebase 使用者註冊</a:t>
            </a:r>
            <a:br/>
            <a:r>
              <a:t>- userLogout(): 登出並清除狀態</a:t>
            </a:r>
            <a:br/>
            <a:r>
              <a:t>- readProfile(): 讀取個人資料</a:t>
            </a:r>
            <a:br/>
            <a:r>
              <a:t>- updateProfile(): 更新個人資料</a:t>
            </a:r>
            <a:br/>
            <a:r>
              <a:t>- updatePassword(): 變更密碼</a:t>
            </a:r>
            <a:br/>
            <a:r>
              <a:t>- resetPassword(): 寄送密碼重設信</a:t>
            </a:r>
            <a:br/>
            <a:r>
              <a:t>- readPreferences(): 讀取購物車與收藏</a:t>
            </a:r>
            <a:br/>
            <a:r>
              <a:t>- updatePreferences(): 同步購物車與收藏至資料庫</a:t>
            </a:r>
            <a:br/>
            <a:r>
              <a:t>- createOrder(): 建立新訂單</a:t>
            </a:r>
            <a:br/>
            <a:r>
              <a:t>- readOrders(): 讀取訂單歷史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0066CC"/>
                </a:solidFill>
              </a:defRPr>
            </a:pPr>
            <a:r>
              <a:t>3. API 架構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333333"/>
                </a:solidFill>
              </a:defRPr>
            </a:pPr>
            <a:r>
              <a:t>Firebase Realtime Database API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GET  /products.json                        # 取得所有商品</a:t>
            </a:r>
            <a:br/>
            <a:r>
              <a:t>GET  /product/:id.json                     # 取得單一商品</a:t>
            </a:r>
            <a:br/>
            <a:r>
              <a:t>GET  /member/:uid/profile.json             # 取得會員資料</a:t>
            </a:r>
            <a:br/>
            <a:r>
              <a:t>PUT  /member/:uid/profile.json             # 更新會員資料</a:t>
            </a:r>
            <a:br/>
            <a:r>
              <a:t>GET  /member/:uid/preferences.json         # 取得購物車與收藏</a:t>
            </a:r>
            <a:br/>
            <a:r>
              <a:t>PUT  /member/:uid/preferences.json         # 更新購物車與收藏</a:t>
            </a:r>
            <a:br/>
            <a:r>
              <a:t>GET  /orders.json                          # 取得所有訂單</a:t>
            </a:r>
            <a:br/>
            <a:r>
              <a:t>POST /orders.json                          # 建立新訂單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333333"/>
                </a:solidFill>
              </a:defRPr>
            </a:pPr>
            <a:r>
              <a:t>Firebase Authentication API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POST /accounts:signInWithPassword          # 登入</a:t>
            </a:r>
            <a:br/>
            <a:r>
              <a:t>POST /accounts:signUp                      # 註冊</a:t>
            </a:r>
            <a:br/>
            <a:r>
              <a:t>POST /accounts:update                      # 變更密碼</a:t>
            </a:r>
            <a:br/>
            <a:r>
              <a:t>POST /accounts:sendOobCode                 # 寄送密碼重設信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333333"/>
                </a:solidFill>
              </a:defRPr>
            </a:pPr>
            <a:r>
              <a:t>Nuxt Server API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GET /api/cityList                          # 取得台灣縣市區域資料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NUXT_DB_API_URL          # Firebase Realtime Database URL</a:t>
            </a:r>
            <a:br/>
            <a:r>
              <a:t>NUXT_AUTH_API_URL        # Firebase Auth API URL</a:t>
            </a:r>
            <a:br/>
            <a:r>
              <a:t>NUXT_FIREBASE_API_KEY    # Firebase 專案 API Key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🔄 資料流架構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0066CC"/>
                </a:solidFill>
              </a:defRPr>
            </a:pPr>
            <a:r>
              <a:t>1. 使用者認證流程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使用者輸入 Email/密碼</a:t>
            </a:r>
            <a:br/>
            <a:r>
              <a:t>    ↓</a:t>
            </a:r>
            <a:br/>
            <a:r>
              <a:t>useMemberStore.userLogin()</a:t>
            </a:r>
            <a:br/>
            <a:r>
              <a:t>    ↓</a:t>
            </a:r>
            <a:br/>
            <a:r>
              <a:t>Firebase Auth API 驗證</a:t>
            </a:r>
            <a:br/>
            <a:r>
              <a:t>    ↓</a:t>
            </a:r>
            <a:br/>
            <a:r>
              <a:t>取得 idToken（JWT Token）</a:t>
            </a:r>
            <a:br/>
            <a:r>
              <a:t>    ↓</a:t>
            </a:r>
            <a:br/>
            <a:r>
              <a:t>儲存至 loginInfo（持久化）</a:t>
            </a:r>
            <a:br/>
            <a:r>
              <a:t>    ↓</a:t>
            </a:r>
            <a:br/>
            <a:r>
              <a:t>後續 API 請求帶入 idToken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0066CC"/>
                </a:solidFill>
              </a:defRPr>
            </a:pPr>
            <a:r>
              <a:t>2. 商品購買流程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瀏覽商品 → 加入購物車 → 購物車頁面</a:t>
            </a:r>
            <a:br/>
            <a:r>
              <a:t>    ↓           ↓              ↓</a:t>
            </a:r>
            <a:br/>
            <a:r>
              <a:t>Product     updateState()   結帳確認</a:t>
            </a:r>
            <a:br/>
            <a:r>
              <a:t>Detail      (本地狀態)         ↓</a:t>
            </a:r>
            <a:br/>
            <a:r>
              <a:t>                          createOrder()</a:t>
            </a:r>
            <a:br/>
            <a:r>
              <a:t>                              ↓</a:t>
            </a:r>
            <a:br/>
            <a:r>
              <a:t>                      儲存至 Firebase DB</a:t>
            </a:r>
            <a:br/>
            <a:r>
              <a:t>                              ↓</a:t>
            </a:r>
            <a:br/>
            <a:r>
              <a:t>                        會員訂單歷史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0066CC"/>
                </a:solidFill>
              </a:defRPr>
            </a:pPr>
            <a:r>
              <a:t>3. 狀態同步機制</a:t>
            </a:r>
          </a:p>
          <a:p>
            <a:pPr>
              <a:spcAft>
                <a:spcPts val="600"/>
              </a:spcAft>
              <a:defRPr sz="1400"/>
            </a:pPr>
            <a:r>
              <a:t>本地優先: 購物車與收藏先儲存至本地（Pinia Store  LocalStorage）</a:t>
            </a:r>
          </a:p>
          <a:p>
            <a:pPr>
              <a:spcAft>
                <a:spcPts val="600"/>
              </a:spcAft>
              <a:defRPr sz="1400"/>
            </a:pPr>
            <a:r>
              <a:t>遠端同步: 登入後透過 updatePreferences() 同步至 Firebase</a:t>
            </a:r>
          </a:p>
          <a:p>
            <a:pPr>
              <a:spcAft>
                <a:spcPts val="600"/>
              </a:spcAft>
              <a:defRPr sz="1400"/>
            </a:pPr>
            <a:r>
              <a:t>資料載入: 登入時透過 readPreferences() 從 Firebase 載入雲端資料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🎨 UI/UX 特色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0066CC"/>
                </a:solidFill>
              </a:defRPr>
            </a:pPr>
            <a:r>
              <a:t>響應式設計</a:t>
            </a:r>
          </a:p>
          <a:p>
            <a:pPr>
              <a:spcAft>
                <a:spcPts val="600"/>
              </a:spcAft>
              <a:defRPr sz="1400"/>
            </a:pPr>
            <a:r>
              <a:t>Mobile First: 優先針對行動裝置設計</a:t>
            </a:r>
          </a:p>
          <a:p>
            <a:pPr>
              <a:spcAft>
                <a:spcPts val="600"/>
              </a:spcAft>
              <a:defRPr sz="1400"/>
            </a:pPr>
            <a:r>
              <a:t>Tailwind Breakpoints: 使用 md: 和 lg: 斷點適配不同螢幕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0066CC"/>
                </a:solidFill>
              </a:defRPr>
            </a:pPr>
            <a:r>
              <a:t>動畫效果</a:t>
            </a:r>
          </a:p>
          <a:p>
            <a:pPr>
              <a:spcAft>
                <a:spcPts val="600"/>
              </a:spcAft>
              <a:defRPr sz="1400"/>
            </a:pPr>
            <a:r>
              <a:t>AOS（Animate On Scroll）:</a:t>
            </a:r>
          </a:p>
          <a:p>
            <a:pPr>
              <a:spcAft>
                <a:spcPts val="600"/>
              </a:spcAft>
              <a:defRPr sz="1400"/>
            </a:pPr>
            <a:r>
              <a:t>Hero Banner 淡入效果</a:t>
            </a:r>
          </a:p>
          <a:p>
            <a:pPr>
              <a:spcAft>
                <a:spcPts val="600"/>
              </a:spcAft>
              <a:defRPr sz="1400"/>
            </a:pPr>
            <a:r>
              <a:t>商品列表滾動動畫</a:t>
            </a:r>
          </a:p>
          <a:p>
            <a:pPr>
              <a:spcAft>
                <a:spcPts val="600"/>
              </a:spcAft>
              <a:defRPr sz="1400"/>
            </a:pPr>
            <a:r>
              <a:t>使用屬性: data-aosfade-left, data-aosfade-right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0066CC"/>
                </a:solidFill>
              </a:defRPr>
            </a:pPr>
            <a:r>
              <a:t>使用者體驗優化</a:t>
            </a:r>
          </a:p>
          <a:p>
            <a:pPr>
              <a:spcAft>
                <a:spcPts val="600"/>
              </a:spcAft>
              <a:defRPr sz="1400"/>
            </a:pPr>
            <a:r>
              <a:t>分頁機制: 每頁顯示 8 項商品（購物車、商品列表）</a:t>
            </a:r>
          </a:p>
          <a:p>
            <a:pPr>
              <a:spcAft>
                <a:spcPts val="600"/>
              </a:spcAft>
              <a:defRPr sz="1400"/>
            </a:pPr>
            <a:r>
              <a:t>自訂指令: v-focus 自動對焦輸入欄位</a:t>
            </a:r>
          </a:p>
          <a:p>
            <a:pPr>
              <a:spcAft>
                <a:spcPts val="600"/>
              </a:spcAft>
              <a:defRPr sz="1400"/>
            </a:pPr>
            <a:r>
              <a:t>價格格式化: 統一顯示為 NT X,XXX 格式</a:t>
            </a:r>
          </a:p>
          <a:p>
            <a:pPr>
              <a:spcAft>
                <a:spcPts val="600"/>
              </a:spcAft>
              <a:defRPr sz="1400"/>
            </a:pPr>
            <a:r>
              <a:t>即時提示: 使用 SweetAlert2 顯示操作結果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🛠️ 開發與部署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0066CC"/>
                </a:solidFill>
              </a:defRPr>
            </a:pPr>
            <a:r>
              <a:t>Node 版本需求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&gt;= 22.0.0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0066CC"/>
                </a:solidFill>
              </a:defRPr>
            </a:pPr>
            <a:r>
              <a:t>開發指令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npm run dev          # 開發伺服器（讀取 .env.local）</a:t>
            </a:r>
            <a:br/>
            <a:r>
              <a:t>npm run prod         # 正式環境開發伺服器</a:t>
            </a:r>
            <a:br/>
            <a:r>
              <a:t>npm run build        # 建置正式版本</a:t>
            </a:r>
            <a:br/>
            <a:r>
              <a:t>npm run generate     # 產生靜態網站</a:t>
            </a:r>
            <a:br/>
            <a:r>
              <a:t>npm run preview      # 預覽建置結果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0066CC"/>
                </a:solidFill>
              </a:defRPr>
            </a:pPr>
            <a:r>
              <a:t>配置檔案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333333"/>
                </a:solidFill>
              </a:defRPr>
            </a:pPr>
            <a:r>
              <a:t>nuxt.config.ts 關鍵設定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modules: [</a:t>
            </a:r>
            <a:br/>
            <a:r>
              <a:t>  '@nuxtjs/tailwindcss',      // Tailwind CSS</a:t>
            </a:r>
            <a:br/>
            <a:r>
              <a:t>  '@nuxt/devtools',           // 開發工具</a:t>
            </a:r>
            <a:br/>
            <a:r>
              <a:t>  '@pinia-plugin-persistedstate/nuxt',  // Store 持久化</a:t>
            </a:r>
            <a:br/>
            <a:r>
              <a:t>  '@pinia/nuxt',              // Pinia 整合</a:t>
            </a:r>
            <a:br/>
            <a:r>
              <a:t>  '@zadigetvoltaire/nuxt-gtm' // GTM 追蹤</a:t>
            </a:r>
            <a:br/>
            <a:r>
              <a:t>]</a:t>
            </a:r>
            <a:br/>
            <a:br/>
            <a:r>
              <a:t>gtm: {</a:t>
            </a:r>
            <a:br/>
            <a:r>
              <a:t>  id: 'GTM-WWTCV42S'          // Google Tag Manager ID</a:t>
            </a:r>
            <a:br/>
            <a:r>
              <a:t>}</a:t>
            </a:r>
            <a:br/>
            <a:br/>
            <a:r>
              <a:t>runtimeConfig: {</a:t>
            </a:r>
            <a:br/>
            <a:r>
              <a:t>  public: {</a:t>
            </a:r>
            <a:br/>
            <a:r>
              <a:t>    dbApiUrl: process.env.NUXT_DB_API_URL,</a:t>
            </a:r>
            <a:br/>
            <a:r>
              <a:t>    authApiUrl: process.env.NUXT_AUTH_API_URL,</a:t>
            </a:r>
            <a:br/>
            <a:r>
              <a:t>    firebaseApiKey: process.env.NUXT_FIREBASE_API_KEY</a:t>
            </a:r>
            <a:br/>
            <a:r>
              <a:t>  }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📊 核心資料結構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0066CC"/>
                </a:solidFill>
              </a:defRPr>
            </a:pPr>
            <a:r>
              <a:t>商品（Product）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interface Product {</a:t>
            </a:r>
            <a:br/>
            <a:r>
              <a:t>  id: string</a:t>
            </a:r>
            <a:br/>
            <a:r>
              <a:t>  name: string</a:t>
            </a:r>
            <a:br/>
            <a:r>
              <a:t>  description: string</a:t>
            </a:r>
            <a:br/>
            <a:r>
              <a:t>  price: number</a:t>
            </a:r>
            <a:br/>
            <a:r>
              <a:t>  imageUrl: string[]</a:t>
            </a:r>
            <a:br/>
            <a:r>
              <a:t>}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0066CC"/>
                </a:solidFill>
              </a:defRPr>
            </a:pPr>
            <a:r>
              <a:t>使用者資料（Profile）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interface Profile {</a:t>
            </a:r>
            <a:br/>
            <a:r>
              <a:t>  name: string</a:t>
            </a:r>
            <a:br/>
            <a:r>
              <a:t>  gender: string</a:t>
            </a:r>
            <a:br/>
            <a:r>
              <a:t>  cellPhone: string</a:t>
            </a:r>
            <a:br/>
            <a:r>
              <a:t>  edm: boolean                    // 電子報訂閱同意</a:t>
            </a:r>
            <a:br/>
            <a:r>
              <a:t>  address: {</a:t>
            </a:r>
            <a:br/>
            <a:r>
              <a:t>    contact: Address              // 聯絡地址</a:t>
            </a:r>
            <a:br/>
            <a:r>
              <a:t>    delivery: Address             // 配送地址</a:t>
            </a:r>
            <a:br/>
            <a:r>
              <a:t>  }</a:t>
            </a:r>
            <a:br/>
            <a:r>
              <a:t>}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0066CC"/>
                </a:solidFill>
              </a:defRPr>
            </a:pPr>
            <a:r>
              <a:t>地址（Address）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interface Address {</a:t>
            </a:r>
            <a:br/>
            <a:r>
              <a:t>  name: string                    // 收件人姓名</a:t>
            </a:r>
            <a:br/>
            <a:r>
              <a:t>  cellPhone: string               // 聯絡電話</a:t>
            </a:r>
            <a:br/>
            <a:r>
              <a:t>  city: string                    // 縣市</a:t>
            </a:r>
            <a:br/>
            <a:r>
              <a:t>  area: string                    // 區域</a:t>
            </a:r>
            <a:br/>
            <a:r>
              <a:t>  address: string                 // 詳細地址</a:t>
            </a:r>
            <a:br/>
            <a:r>
              <a:t>}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0066CC"/>
                </a:solidFill>
              </a:defRPr>
            </a:pPr>
            <a:r>
              <a:t>訂單（Order）</a:t>
            </a:r>
          </a:p>
          <a:p>
            <a:pPr>
              <a:defRPr sz="1100">
                <a:solidFill>
                  <a:srgbClr val="333333"/>
                </a:solidFill>
                <a:latin typeface="Courier New"/>
              </a:defRPr>
            </a:pPr>
            <a:r>
              <a:t>interface Order {</a:t>
            </a:r>
            <a:br/>
            <a:r>
              <a:t>  orderID: string</a:t>
            </a:r>
            <a:br/>
            <a:r>
              <a:t>  memberID: string</a:t>
            </a:r>
            <a:br/>
            <a:r>
              <a:t>  content: OrderContent[]</a:t>
            </a:r>
            <a:br/>
            <a:r>
              <a:t>  total: number</a:t>
            </a:r>
            <a:br/>
            <a:r>
              <a:t>  createTime: number              // Unix Timestamp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🔐 安全性機制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0066CC"/>
                </a:solidFill>
              </a:defRPr>
            </a:pPr>
            <a:r>
              <a:t>認證與授權</a:t>
            </a:r>
          </a:p>
          <a:p>
            <a:pPr>
              <a:spcAft>
                <a:spcPts val="600"/>
              </a:spcAft>
              <a:defRPr sz="1400"/>
            </a:pPr>
            <a:r>
              <a:t>Firebase Authentication: Email/密碼認證</a:t>
            </a:r>
          </a:p>
          <a:p>
            <a:pPr>
              <a:spcAft>
                <a:spcPts val="600"/>
              </a:spcAft>
              <a:defRPr sz="1400"/>
            </a:pPr>
            <a:r>
              <a:t>JWT Token: 使用 idToken 進行 API 請求驗證</a:t>
            </a:r>
          </a:p>
          <a:p>
            <a:pPr>
              <a:spcAft>
                <a:spcPts val="600"/>
              </a:spcAft>
              <a:defRPr sz="1400"/>
            </a:pPr>
            <a:r>
              <a:t>Route Middleware: 保護會員專屬頁面</a:t>
            </a:r>
          </a:p>
          <a:p>
            <a:pPr>
              <a:spcAft>
                <a:spcPts val="600"/>
              </a:spcAft>
              <a:defRPr sz="1400"/>
            </a:pPr>
            <a:r>
              <a:t>Cookie-based Auth State: 透過 Cookie 檢查登入狀態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0066CC"/>
                </a:solidFill>
              </a:defRPr>
            </a:pPr>
            <a:r>
              <a:t>環境變數管理</a:t>
            </a:r>
          </a:p>
          <a:p>
            <a:pPr>
              <a:spcAft>
                <a:spcPts val="600"/>
              </a:spcAft>
              <a:defRPr sz="1400"/>
            </a:pPr>
            <a:r>
              <a:t>敏感資訊: API Key、URL 均透過環境變數管理</a:t>
            </a:r>
          </a:p>
          <a:p>
            <a:pPr>
              <a:spcAft>
                <a:spcPts val="600"/>
              </a:spcAft>
              <a:defRPr sz="1400"/>
            </a:pPr>
            <a:r>
              <a:t>不同環境: 開發環境使用 .env.local，正式環境使用系統環境變數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📈 分析與追蹤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0066CC"/>
                </a:solidFill>
              </a:defRPr>
            </a:pPr>
            <a:r>
              <a:t>Google Tag Manager</a:t>
            </a:r>
          </a:p>
          <a:p>
            <a:pPr>
              <a:spcAft>
                <a:spcPts val="600"/>
              </a:spcAft>
              <a:defRPr sz="1400"/>
            </a:pPr>
            <a:r>
              <a:t>GTM ID: GTM-WWTCV42S</a:t>
            </a:r>
          </a:p>
          <a:p>
            <a:pPr>
              <a:spcAft>
                <a:spcPts val="600"/>
              </a:spcAft>
              <a:defRPr sz="1400"/>
            </a:pPr>
            <a:r>
              <a:t>追蹤項目:</a:t>
            </a:r>
          </a:p>
          <a:p>
            <a:pPr>
              <a:spcAft>
                <a:spcPts val="600"/>
              </a:spcAft>
              <a:defRPr sz="1400"/>
            </a:pPr>
            <a:r>
              <a:t>頁面瀏覽</a:t>
            </a:r>
          </a:p>
          <a:p>
            <a:pPr>
              <a:spcAft>
                <a:spcPts val="600"/>
              </a:spcAft>
              <a:defRPr sz="1400"/>
            </a:pPr>
            <a:r>
              <a:t>使用者互動</a:t>
            </a:r>
          </a:p>
          <a:p>
            <a:pPr>
              <a:spcAft>
                <a:spcPts val="600"/>
              </a:spcAft>
              <a:defRPr sz="1400"/>
            </a:pPr>
            <a:r>
              <a:t>轉換事件（加入購物車、完成訂單）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🌟 專案特色總結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0066CC"/>
                </a:solidFill>
              </a:defRPr>
            </a:pPr>
            <a:r>
              <a:t>技術亮點</a:t>
            </a:r>
          </a:p>
          <a:p>
            <a:pPr>
              <a:spcAft>
                <a:spcPts val="600"/>
              </a:spcAft>
              <a:defRPr sz="1400"/>
            </a:pPr>
            <a:r>
              <a:t> 全端 TypeScript - 完整型別安全</a:t>
            </a:r>
          </a:p>
          <a:p>
            <a:pPr>
              <a:spcAft>
                <a:spcPts val="600"/>
              </a:spcAft>
              <a:defRPr sz="1400"/>
            </a:pPr>
            <a:r>
              <a:t> Serverless 架構 - Firebase 後端服務</a:t>
            </a:r>
          </a:p>
          <a:p>
            <a:pPr>
              <a:spcAft>
                <a:spcPts val="600"/>
              </a:spcAft>
              <a:defRPr sz="1400"/>
            </a:pPr>
            <a:r>
              <a:t> 狀態持久化 - 購物車與登入狀態跨裝置同步</a:t>
            </a:r>
          </a:p>
          <a:p>
            <a:pPr>
              <a:spcAft>
                <a:spcPts val="600"/>
              </a:spcAft>
              <a:defRPr sz="1400"/>
            </a:pPr>
            <a:r>
              <a:t> 響應式設計 - Mobile-first 設計理念</a:t>
            </a:r>
          </a:p>
          <a:p>
            <a:pPr>
              <a:spcAft>
                <a:spcPts val="600"/>
              </a:spcAft>
              <a:defRPr sz="1400"/>
            </a:pPr>
            <a:r>
              <a:t> SEO 友善 - Nuxt 3 SSR 支援</a:t>
            </a:r>
          </a:p>
          <a:p>
            <a:pPr>
              <a:spcAft>
                <a:spcPts val="600"/>
              </a:spcAft>
              <a:defRPr sz="1400"/>
            </a:pPr>
            <a:r>
              <a:t> 現代化工具鏈 - Vite、Tailwind CSS、Pinia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0066CC"/>
                </a:solidFill>
              </a:defRPr>
            </a:pPr>
            <a:r>
              <a:t>功能完整度</a:t>
            </a:r>
          </a:p>
          <a:p>
            <a:pPr>
              <a:spcAft>
                <a:spcPts val="600"/>
              </a:spcAft>
              <a:defRPr sz="1400"/>
            </a:pPr>
            <a:r>
              <a:t> 商品瀏覽與搜尋</a:t>
            </a:r>
          </a:p>
          <a:p>
            <a:pPr>
              <a:spcAft>
                <a:spcPts val="600"/>
              </a:spcAft>
              <a:defRPr sz="1400"/>
            </a:pPr>
            <a:r>
              <a:t> 購物車管理</a:t>
            </a:r>
          </a:p>
          <a:p>
            <a:pPr>
              <a:spcAft>
                <a:spcPts val="600"/>
              </a:spcAft>
              <a:defRPr sz="1400"/>
            </a:pPr>
            <a:r>
              <a:t> 收藏清單</a:t>
            </a:r>
          </a:p>
          <a:p>
            <a:pPr>
              <a:spcAft>
                <a:spcPts val="600"/>
              </a:spcAft>
              <a:defRPr sz="1400"/>
            </a:pPr>
            <a:r>
              <a:t> 會員系統</a:t>
            </a:r>
          </a:p>
          <a:p>
            <a:pPr>
              <a:spcAft>
                <a:spcPts val="600"/>
              </a:spcAft>
              <a:defRPr sz="1400"/>
            </a:pPr>
            <a:r>
              <a:t> 訂單管理</a:t>
            </a:r>
          </a:p>
          <a:p>
            <a:pPr>
              <a:spcAft>
                <a:spcPts val="600"/>
              </a:spcAft>
              <a:defRPr sz="1400"/>
            </a:pPr>
            <a:r>
              <a:t> 地址選擇器（台灣地區）</a:t>
            </a:r>
          </a:p>
          <a:p>
            <a:pPr>
              <a:spcAft>
                <a:spcPts val="600"/>
              </a:spcAft>
              <a:defRPr sz="1400"/>
            </a:pPr>
            <a:r>
              <a:t> 動畫效果</a:t>
            </a:r>
          </a:p>
          <a:p>
            <a:pPr>
              <a:spcAft>
                <a:spcPts val="600"/>
              </a:spcAft>
              <a:defRPr sz="1400"/>
            </a:pPr>
            <a:r>
              <a:t> 使用者追蹤（GTM）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0066CC"/>
                </a:solidFill>
              </a:defRPr>
            </a:pPr>
            <a:r>
              <a:t>開發體驗</a:t>
            </a:r>
          </a:p>
          <a:p>
            <a:pPr>
              <a:spcAft>
                <a:spcPts val="600"/>
              </a:spcAft>
              <a:defRPr sz="1400"/>
            </a:pPr>
            <a:r>
              <a:t> TypeScript 型別安全</a:t>
            </a:r>
          </a:p>
          <a:p>
            <a:pPr>
              <a:spcAft>
                <a:spcPts val="600"/>
              </a:spcAft>
              <a:defRPr sz="1400"/>
            </a:pPr>
            <a:r>
              <a:t> Nuxt DevTools 整合</a:t>
            </a:r>
          </a:p>
          <a:p>
            <a:pPr>
              <a:spcAft>
                <a:spcPts val="600"/>
              </a:spcAft>
              <a:defRPr sz="1400"/>
            </a:pPr>
            <a:r>
              <a:t> Hot Module Replacement (HMR)</a:t>
            </a:r>
          </a:p>
          <a:p>
            <a:pPr>
              <a:spcAft>
                <a:spcPts val="600"/>
              </a:spcAft>
              <a:defRPr sz="1400"/>
            </a:pPr>
            <a:r>
              <a:t> 自動導入（Auto-imports）</a:t>
            </a:r>
          </a:p>
          <a:p>
            <a:pPr>
              <a:spcAft>
                <a:spcPts val="600"/>
              </a:spcAft>
              <a:defRPr sz="1400"/>
            </a:pPr>
            <a:r>
              <a:t> File-based Routing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📝 後台管理系統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/>
            </a:pPr>
            <a:r>
              <a:t>專案包含獨立的後台管理系統，基於 Admin Dashboard Template 製作：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0066CC"/>
                </a:solidFill>
              </a:defRPr>
            </a:pPr>
            <a:r>
              <a:t>後台功能</a:t>
            </a:r>
          </a:p>
          <a:p>
            <a:pPr>
              <a:spcAft>
                <a:spcPts val="600"/>
              </a:spcAft>
              <a:defRPr sz="1400"/>
            </a:pPr>
            <a:r>
              <a:t>商品 CRUD 操作</a:t>
            </a:r>
          </a:p>
          <a:p>
            <a:pPr>
              <a:spcAft>
                <a:spcPts val="600"/>
              </a:spcAft>
              <a:defRPr sz="1400"/>
            </a:pPr>
            <a:r>
              <a:t>訂單管理</a:t>
            </a:r>
          </a:p>
          <a:p>
            <a:pPr>
              <a:spcAft>
                <a:spcPts val="600"/>
              </a:spcAft>
              <a:defRPr sz="1400"/>
            </a:pPr>
            <a:r>
              <a:t>會員資料查詢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🎓 參考資源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/>
            </a:pPr>
            <a:r>
              <a:t>設計稿: https://reurl.cc/dGV2M6</a:t>
            </a:r>
          </a:p>
          <a:p>
            <a:pPr>
              <a:spcAft>
                <a:spcPts val="600"/>
              </a:spcAft>
              <a:defRPr sz="1400"/>
            </a:pPr>
            <a:r>
              <a:t>Nuxt 3 文件: https://nuxt.com/</a:t>
            </a:r>
          </a:p>
          <a:p>
            <a:pPr>
              <a:spcAft>
                <a:spcPts val="600"/>
              </a:spcAft>
              <a:defRPr sz="1400"/>
            </a:pPr>
            <a:r>
              <a:t>Firebase 文件: https://firebase.google.com/docs</a:t>
            </a:r>
          </a:p>
          <a:p>
            <a:pPr>
              <a:spcAft>
                <a:spcPts val="600"/>
              </a:spcAft>
              <a:defRPr sz="1400"/>
            </a:pPr>
            <a:r>
              <a:t>Tailwind CSS: https://tailwindcss.com/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